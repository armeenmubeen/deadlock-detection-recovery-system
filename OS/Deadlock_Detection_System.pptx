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5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902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C10"/>
          </a:solidFill>
          <a:ln w="12700">
            <a:solidFill>
              <a:srgbClr val="0A0C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6CF8"/>
          </a:solidFill>
          <a:ln w="12700">
            <a:solidFill>
              <a:srgbClr val="7C6C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731520"/>
            <a:ext cx="5029200" cy="5029200"/>
          </a:xfrm>
          <a:prstGeom prst="ellipse">
            <a:avLst/>
          </a:prstGeom>
          <a:solidFill>
            <a:srgbClr val="7C6CF8">
              <a:alpha val="6000"/>
            </a:srgbClr>
          </a:solidFill>
          <a:ln w="12700">
            <a:solidFill>
              <a:srgbClr val="7C6CF8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1371600"/>
            <a:ext cx="3200400" cy="3200400"/>
          </a:xfrm>
          <a:prstGeom prst="ellipse">
            <a:avLst/>
          </a:prstGeom>
          <a:solidFill>
            <a:srgbClr val="2DD4A0">
              <a:alpha val="7000"/>
            </a:srgbClr>
          </a:solidFill>
          <a:ln w="12700">
            <a:solidFill>
              <a:srgbClr val="2DD4A0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20040"/>
            <a:ext cx="1645920" cy="237744"/>
          </a:xfrm>
          <a:prstGeom prst="roundRect">
            <a:avLst>
              <a:gd name="adj" fmla="val 19231"/>
            </a:avLst>
          </a:prstGeom>
          <a:solidFill>
            <a:srgbClr val="7C6CF8">
              <a:alpha val="15000"/>
            </a:srgbClr>
          </a:solidFill>
          <a:ln w="12700">
            <a:solidFill>
              <a:srgbClr val="7C6C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004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A8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 SEMESTER PROJECT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Deadlock Detection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A89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Recovery System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57200" y="239572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Interactive RAG Visualizer · Banker's Algorithm · DFS Cycle Detection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16352"/>
            <a:ext cx="5029200" cy="13716"/>
          </a:xfrm>
          <a:prstGeom prst="rect">
            <a:avLst/>
          </a:prstGeom>
          <a:solidFill>
            <a:srgbClr val="2A2F42"/>
          </a:solidFill>
          <a:ln w="12700">
            <a:solidFill>
              <a:srgbClr val="2A2F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718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Syed Rameez Hassan  S24CSC045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9718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Armeen Mubeen  S24CSC009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3375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Muntasha Samoo  S24CSC011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33375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Mahnoor Motiwala  S24CSC027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023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F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Supervisor: Miss Mahjabeen Tahir  |  Salim Habib University  |  Spring 2026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57200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F05050">
              <a:alpha val="20000"/>
            </a:srgbClr>
          </a:solidFill>
          <a:ln w="12700">
            <a:solidFill>
              <a:srgbClr val="F050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5720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5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874520" y="457200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F0A840">
              <a:alpha val="20000"/>
            </a:srgbClr>
          </a:solidFill>
          <a:ln w="12700">
            <a:solidFill>
              <a:srgbClr val="F0A8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74520" y="45720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A8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Avoidance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91840" y="457200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50D080">
              <a:alpha val="20000"/>
            </a:srgbClr>
          </a:solidFill>
          <a:ln w="12700">
            <a:solidFill>
              <a:srgbClr val="50D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45720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0D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Recovery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09160" y="457200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7C6CF8">
              <a:alpha val="20000"/>
            </a:srgbClr>
          </a:solidFill>
          <a:ln w="12700">
            <a:solidFill>
              <a:srgbClr val="7C6C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45720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6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Visualization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C10"/>
          </a:solidFill>
          <a:ln w="12700">
            <a:solidFill>
              <a:srgbClr val="0A0C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418"/>
          </a:solidFill>
          <a:ln w="12700">
            <a:solidFill>
              <a:srgbClr val="1114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01168"/>
            <a:ext cx="1645920" cy="237744"/>
          </a:xfrm>
          <a:prstGeom prst="roundRect">
            <a:avLst>
              <a:gd name="adj" fmla="val 19231"/>
            </a:avLst>
          </a:prstGeom>
          <a:solidFill>
            <a:srgbClr val="7C6CF8">
              <a:alpha val="15000"/>
            </a:srgbClr>
          </a:solidFill>
          <a:ln w="12700">
            <a:solidFill>
              <a:srgbClr val="7C6C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A8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INTRODUCTION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286000" y="109728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&amp; Objectives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4114800" cy="3200400"/>
          </a:xfrm>
          <a:prstGeom prst="rect">
            <a:avLst/>
          </a:prstGeom>
          <a:solidFill>
            <a:srgbClr val="111418"/>
          </a:solidFill>
          <a:ln w="12700">
            <a:solidFill>
              <a:srgbClr val="F05050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22960"/>
            <a:ext cx="4114800" cy="36576"/>
          </a:xfrm>
          <a:prstGeom prst="rect">
            <a:avLst/>
          </a:prstGeom>
          <a:solidFill>
            <a:srgbClr val="F05050"/>
          </a:solidFill>
          <a:ln w="12700">
            <a:solidFill>
              <a:srgbClr val="F05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50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135331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Deadlock: processes permanently blocked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for resources held by each other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185623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to users — no error message,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simply freeze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35915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crash production systems, freeze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services, corrupt data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86207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Coffman conditions must ALL hold: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Exclusion · Hold &amp; Wait ·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Preemption · Circular Wait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822960"/>
            <a:ext cx="4114800" cy="3200400"/>
          </a:xfrm>
          <a:prstGeom prst="rect">
            <a:avLst/>
          </a:prstGeom>
          <a:solidFill>
            <a:srgbClr val="111418"/>
          </a:solidFill>
          <a:ln w="12700">
            <a:solidFill>
              <a:srgbClr val="2DD4A0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822960"/>
            <a:ext cx="4114800" cy="36576"/>
          </a:xfrm>
          <a:prstGeom prst="rect">
            <a:avLst/>
          </a:prstGeom>
          <a:solidFill>
            <a:srgbClr val="2DD4A0"/>
          </a:solidFill>
          <a:ln w="12700">
            <a:solidFill>
              <a:srgbClr val="2DD4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Objectives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46320" y="135331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web-based RAG visualizer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0" y="177393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DFS cycle detection for deadlock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0" y="21945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Wait-for Graph reduction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46320" y="26151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Banker's Algorithm for avoidance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303580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3 recovery strategies with live UI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0" y="34564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OS concepts tangible for education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4206240"/>
            <a:ext cx="2011680" cy="731520"/>
          </a:xfrm>
          <a:prstGeom prst="rect">
            <a:avLst/>
          </a:prstGeom>
          <a:solidFill>
            <a:srgbClr val="181C23"/>
          </a:solidFill>
          <a:ln w="12700">
            <a:solidFill>
              <a:srgbClr val="7C6C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23367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6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20040" y="457200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32888" y="4206240"/>
            <a:ext cx="2011680" cy="731520"/>
          </a:xfrm>
          <a:prstGeom prst="rect">
            <a:avLst/>
          </a:prstGeom>
          <a:solidFill>
            <a:srgbClr val="181C23"/>
          </a:solidFill>
          <a:ln w="12700">
            <a:solidFill>
              <a:srgbClr val="F0A8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32888" y="423367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A8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2532888" y="457200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Scenarios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45736" y="4206240"/>
            <a:ext cx="2011680" cy="731520"/>
          </a:xfrm>
          <a:prstGeom prst="rect">
            <a:avLst/>
          </a:prstGeom>
          <a:solidFill>
            <a:srgbClr val="181C23"/>
          </a:solidFill>
          <a:ln w="12700">
            <a:solidFill>
              <a:srgbClr val="F050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45736" y="423367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50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745736" y="457200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Recovery Modes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58584" y="4206240"/>
            <a:ext cx="2011680" cy="731520"/>
          </a:xfrm>
          <a:prstGeom prst="rect">
            <a:avLst/>
          </a:prstGeom>
          <a:solidFill>
            <a:srgbClr val="181C23"/>
          </a:solidFill>
          <a:ln w="12700">
            <a:solidFill>
              <a:srgbClr val="2DD4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58584" y="423367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D4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958584" y="457200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Browser-based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C10"/>
          </a:solidFill>
          <a:ln w="12700">
            <a:solidFill>
              <a:srgbClr val="0A0C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418"/>
          </a:solidFill>
          <a:ln w="12700">
            <a:solidFill>
              <a:srgbClr val="1114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01168"/>
            <a:ext cx="1645920" cy="237744"/>
          </a:xfrm>
          <a:prstGeom prst="roundRect">
            <a:avLst>
              <a:gd name="adj" fmla="val 19231"/>
            </a:avLst>
          </a:prstGeom>
          <a:solidFill>
            <a:srgbClr val="7C6CF8">
              <a:alpha val="15000"/>
            </a:srgbClr>
          </a:solidFill>
          <a:ln w="12700">
            <a:solidFill>
              <a:srgbClr val="7C6C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A8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THEORY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286000" y="109728"/>
            <a:ext cx="6583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Deadlock Concepts &amp; Algorithms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2011680" cy="1371600"/>
          </a:xfrm>
          <a:prstGeom prst="rect">
            <a:avLst/>
          </a:prstGeom>
          <a:solidFill>
            <a:srgbClr val="111418"/>
          </a:solidFill>
          <a:ln w="12700">
            <a:solidFill>
              <a:srgbClr val="F05050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04672"/>
            <a:ext cx="2011680" cy="36576"/>
          </a:xfrm>
          <a:prstGeom prst="rect">
            <a:avLst/>
          </a:prstGeom>
          <a:solidFill>
            <a:srgbClr val="F05050"/>
          </a:solidFill>
          <a:ln w="12700">
            <a:solidFill>
              <a:srgbClr val="F05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5953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50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" y="11887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Mutual Exclusion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146304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process can hold a resource at a time. Others must wait.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32888" y="804672"/>
            <a:ext cx="2011680" cy="1371600"/>
          </a:xfrm>
          <a:prstGeom prst="rect">
            <a:avLst/>
          </a:prstGeom>
          <a:solidFill>
            <a:srgbClr val="111418"/>
          </a:solidFill>
          <a:ln w="12700">
            <a:solidFill>
              <a:srgbClr val="F0A840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32888" y="804672"/>
            <a:ext cx="2011680" cy="36576"/>
          </a:xfrm>
          <a:prstGeom prst="rect">
            <a:avLst/>
          </a:prstGeom>
          <a:solidFill>
            <a:srgbClr val="F0A840"/>
          </a:solidFill>
          <a:ln w="12700">
            <a:solidFill>
              <a:srgbClr val="F0A8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32888" y="85953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A8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624328" y="11887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 &amp; Wait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624328" y="146304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process holds resources while waiting to acquire additional ones.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45736" y="804672"/>
            <a:ext cx="2011680" cy="1371600"/>
          </a:xfrm>
          <a:prstGeom prst="rect">
            <a:avLst/>
          </a:prstGeom>
          <a:solidFill>
            <a:srgbClr val="111418"/>
          </a:solidFill>
          <a:ln w="12700">
            <a:solidFill>
              <a:srgbClr val="7C6CF8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45736" y="804672"/>
            <a:ext cx="2011680" cy="36576"/>
          </a:xfrm>
          <a:prstGeom prst="rect">
            <a:avLst/>
          </a:prstGeom>
          <a:solidFill>
            <a:srgbClr val="7C6CF8"/>
          </a:solidFill>
          <a:ln w="12700">
            <a:solidFill>
              <a:srgbClr val="7C6C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45736" y="85953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6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837176" y="11887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Preemption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37176" y="146304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cannot be forcibly taken from a process holding them.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958584" y="804672"/>
            <a:ext cx="2011680" cy="1371600"/>
          </a:xfrm>
          <a:prstGeom prst="rect">
            <a:avLst/>
          </a:prstGeom>
          <a:solidFill>
            <a:srgbClr val="111418"/>
          </a:solidFill>
          <a:ln w="12700">
            <a:solidFill>
              <a:srgbClr val="2DD4A0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58584" y="804672"/>
            <a:ext cx="2011680" cy="36576"/>
          </a:xfrm>
          <a:prstGeom prst="rect">
            <a:avLst/>
          </a:prstGeom>
          <a:solidFill>
            <a:srgbClr val="2DD4A0"/>
          </a:solidFill>
          <a:ln w="12700">
            <a:solidFill>
              <a:srgbClr val="2DD4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58584" y="85953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D4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050024" y="11887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Circular Wait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050024" y="146304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P1→P2→P3→P1: a closed chain of processes each waiting on the next.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2331720"/>
            <a:ext cx="2743200" cy="2560320"/>
          </a:xfrm>
          <a:prstGeom prst="rect">
            <a:avLst/>
          </a:prstGeom>
          <a:solidFill>
            <a:srgbClr val="181C23"/>
          </a:solidFill>
          <a:ln w="12700">
            <a:solidFill>
              <a:srgbClr val="2A2F42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24231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A8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57200" y="285292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320040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at least one Coffman condition by design. Safe but very restrictive — limits concurrency.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663440"/>
            <a:ext cx="1371600" cy="201168"/>
          </a:xfrm>
          <a:prstGeom prst="roundRect">
            <a:avLst>
              <a:gd name="adj" fmla="val 18182"/>
            </a:avLst>
          </a:prstGeom>
          <a:solidFill>
            <a:srgbClr val="F0A840">
              <a:alpha val="20000"/>
            </a:srgbClr>
          </a:solidFill>
          <a:ln w="12700">
            <a:solidFill>
              <a:srgbClr val="F0A8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6634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A8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our focus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64408" y="2331720"/>
            <a:ext cx="2743200" cy="2560320"/>
          </a:xfrm>
          <a:prstGeom prst="rect">
            <a:avLst/>
          </a:prstGeom>
          <a:solidFill>
            <a:srgbClr val="181C23"/>
          </a:solidFill>
          <a:ln w="25400">
            <a:solidFill>
              <a:srgbClr val="7C6CF8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401568" y="24231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6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3401568" y="285292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 &amp; Recovery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401568" y="320040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deadlocks to occur, then detect cycles using DFS or Wait-for Graph, and recover via termination or preemption.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401568" y="4663440"/>
            <a:ext cx="1371600" cy="201168"/>
          </a:xfrm>
          <a:prstGeom prst="roundRect">
            <a:avLst>
              <a:gd name="adj" fmla="val 18182"/>
            </a:avLst>
          </a:prstGeom>
          <a:solidFill>
            <a:srgbClr val="7C6CF8">
              <a:alpha val="20000"/>
            </a:srgbClr>
          </a:solidFill>
          <a:ln w="12700">
            <a:solidFill>
              <a:srgbClr val="7C6C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01568" y="46634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C6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approach ✓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208776" y="2331720"/>
            <a:ext cx="2743200" cy="2560320"/>
          </a:xfrm>
          <a:prstGeom prst="rect">
            <a:avLst/>
          </a:prstGeom>
          <a:solidFill>
            <a:srgbClr val="181C23"/>
          </a:solidFill>
          <a:ln w="12700">
            <a:solidFill>
              <a:srgbClr val="2A2F42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345936" y="24231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D4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6345936" y="285292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Avoidance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345936" y="320040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granting a request, use Banker's Algorithm to verify the system stays in a safe state.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345936" y="4663440"/>
            <a:ext cx="1371600" cy="201168"/>
          </a:xfrm>
          <a:prstGeom prst="roundRect">
            <a:avLst>
              <a:gd name="adj" fmla="val 18182"/>
            </a:avLst>
          </a:prstGeom>
          <a:solidFill>
            <a:srgbClr val="2DD4A0">
              <a:alpha val="20000"/>
            </a:srgbClr>
          </a:solidFill>
          <a:ln w="12700">
            <a:solidFill>
              <a:srgbClr val="2DD4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45936" y="46634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Complementary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C10"/>
          </a:solidFill>
          <a:ln w="12700">
            <a:solidFill>
              <a:srgbClr val="0A0C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11418"/>
          </a:solidFill>
          <a:ln w="12700">
            <a:solidFill>
              <a:srgbClr val="1114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645920" cy="237744"/>
          </a:xfrm>
          <a:prstGeom prst="roundRect">
            <a:avLst>
              <a:gd name="adj" fmla="val 19231"/>
            </a:avLst>
          </a:prstGeom>
          <a:solidFill>
            <a:srgbClr val="7C6CF8">
              <a:alpha val="15000"/>
            </a:srgbClr>
          </a:solidFill>
          <a:ln w="12700">
            <a:solidFill>
              <a:srgbClr val="7C6C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A8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METHODOLOGY — UI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286000" y="73152"/>
            <a:ext cx="6583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Visualizer — Deadlock Detection UI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658368"/>
            <a:ext cx="8503920" cy="3794760"/>
          </a:xfrm>
          <a:prstGeom prst="rect">
            <a:avLst/>
          </a:prstGeom>
          <a:solidFill>
            <a:srgbClr val="111418"/>
          </a:solidFill>
          <a:ln w="25400">
            <a:solidFill>
              <a:srgbClr val="F05050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85800"/>
            <a:ext cx="8412480" cy="3703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446227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6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Quick Scenario Loader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720840" y="446227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05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DFS traversal log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246120" y="446227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0A8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Deadlock cycle banner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5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Deadlock detected: P1→R1→P3→R3→P2→R2 — visible in UI status bar and log panel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C10"/>
          </a:solidFill>
          <a:ln w="12700">
            <a:solidFill>
              <a:srgbClr val="0A0C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11418"/>
          </a:solidFill>
          <a:ln w="12700">
            <a:solidFill>
              <a:srgbClr val="1114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645920" cy="237744"/>
          </a:xfrm>
          <a:prstGeom prst="roundRect">
            <a:avLst>
              <a:gd name="adj" fmla="val 19231"/>
            </a:avLst>
          </a:prstGeom>
          <a:solidFill>
            <a:srgbClr val="7C6CF8">
              <a:alpha val="15000"/>
            </a:srgbClr>
          </a:solidFill>
          <a:ln w="12700">
            <a:solidFill>
              <a:srgbClr val="7C6C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A8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METHODOLOGY — BANKER'S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377440" y="73152"/>
            <a:ext cx="6400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Banker's Algorithm — Safety Check UI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658368"/>
            <a:ext cx="5120640" cy="3794760"/>
          </a:xfrm>
          <a:prstGeom prst="rect">
            <a:avLst/>
          </a:prstGeom>
          <a:solidFill>
            <a:srgbClr val="111418"/>
          </a:solidFill>
          <a:ln w="25400">
            <a:solidFill>
              <a:srgbClr val="7C6CF8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85800"/>
            <a:ext cx="5029200" cy="3703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577840" y="658368"/>
            <a:ext cx="3246120" cy="804672"/>
          </a:xfrm>
          <a:prstGeom prst="rect">
            <a:avLst/>
          </a:prstGeom>
          <a:solidFill>
            <a:srgbClr val="181C23"/>
          </a:solidFill>
          <a:ln w="12700">
            <a:solidFill>
              <a:srgbClr val="7C6CF8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50992" y="822960"/>
            <a:ext cx="384048" cy="384048"/>
          </a:xfrm>
          <a:prstGeom prst="ellipse">
            <a:avLst/>
          </a:prstGeom>
          <a:solidFill>
            <a:srgbClr val="7C6CF8">
              <a:alpha val="80000"/>
            </a:srgbClr>
          </a:solidFill>
          <a:ln w="12700">
            <a:solidFill>
              <a:srgbClr val="7C6CF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50992" y="822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108192" y="71323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08192" y="96926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Allocation, Max, and Available vectors set by user for 5 processes × 3 resource types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577840" y="1591056"/>
            <a:ext cx="3246120" cy="804672"/>
          </a:xfrm>
          <a:prstGeom prst="rect">
            <a:avLst/>
          </a:prstGeom>
          <a:solidFill>
            <a:srgbClr val="181C23"/>
          </a:solidFill>
          <a:ln w="12700">
            <a:solidFill>
              <a:srgbClr val="2DD4A0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650992" y="1755648"/>
            <a:ext cx="384048" cy="384048"/>
          </a:xfrm>
          <a:prstGeom prst="ellipse">
            <a:avLst/>
          </a:prstGeom>
          <a:solidFill>
            <a:srgbClr val="2DD4A0">
              <a:alpha val="80000"/>
            </a:srgbClr>
          </a:solidFill>
          <a:ln w="12700">
            <a:solidFill>
              <a:srgbClr val="2DD4A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50992" y="1755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108192" y="164592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Need Matrix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108192" y="190195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Auto-computed: Need[i][j] = Max[i][j] − Allocation[i][j]. Shown in live table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577840" y="2523744"/>
            <a:ext cx="3246120" cy="804672"/>
          </a:xfrm>
          <a:prstGeom prst="rect">
            <a:avLst/>
          </a:prstGeom>
          <a:solidFill>
            <a:srgbClr val="181C23"/>
          </a:solidFill>
          <a:ln w="12700">
            <a:solidFill>
              <a:srgbClr val="F0A840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650992" y="2688336"/>
            <a:ext cx="384048" cy="384048"/>
          </a:xfrm>
          <a:prstGeom prst="ellipse">
            <a:avLst/>
          </a:prstGeom>
          <a:solidFill>
            <a:srgbClr val="F0A840">
              <a:alpha val="80000"/>
            </a:srgbClr>
          </a:solidFill>
          <a:ln w="12700">
            <a:solidFill>
              <a:srgbClr val="F0A84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50992" y="26883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108192" y="257860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Check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108192" y="28346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← Available. Find Pi where Need[i] ≤ Work, simulate finish, reclaim resources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577840" y="3456432"/>
            <a:ext cx="3246120" cy="804672"/>
          </a:xfrm>
          <a:prstGeom prst="rect">
            <a:avLst/>
          </a:prstGeom>
          <a:solidFill>
            <a:srgbClr val="181C23"/>
          </a:solidFill>
          <a:ln w="12700">
            <a:solidFill>
              <a:srgbClr val="50D080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650992" y="3621024"/>
            <a:ext cx="384048" cy="384048"/>
          </a:xfrm>
          <a:prstGeom prst="ellipse">
            <a:avLst/>
          </a:prstGeom>
          <a:solidFill>
            <a:srgbClr val="50D080">
              <a:alpha val="80000"/>
            </a:srgbClr>
          </a:solidFill>
          <a:ln w="12700">
            <a:solidFill>
              <a:srgbClr val="50D08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50992" y="36210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108192" y="3511296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108192" y="376732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all processes finish → SAFE with sequence P1→P3→P4→P0→P2. Else UNSAFE, deny request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577840" y="4434840"/>
            <a:ext cx="3246120" cy="438912"/>
          </a:xfrm>
          <a:prstGeom prst="rect">
            <a:avLst/>
          </a:prstGeom>
          <a:solidFill>
            <a:srgbClr val="111418"/>
          </a:solidFill>
          <a:ln w="12700">
            <a:solidFill>
              <a:srgbClr val="7C6CF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577840" y="4434840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Need[i][j] = Max[i][j] − Allocation[i][j]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C10"/>
          </a:solidFill>
          <a:ln w="12700">
            <a:solidFill>
              <a:srgbClr val="0A0C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11418"/>
          </a:solidFill>
          <a:ln w="12700">
            <a:solidFill>
              <a:srgbClr val="1114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645920" cy="237744"/>
          </a:xfrm>
          <a:prstGeom prst="roundRect">
            <a:avLst>
              <a:gd name="adj" fmla="val 19231"/>
            </a:avLst>
          </a:prstGeom>
          <a:solidFill>
            <a:srgbClr val="7C6CF8">
              <a:alpha val="15000"/>
            </a:srgbClr>
          </a:solidFill>
          <a:ln w="12700">
            <a:solidFill>
              <a:srgbClr val="7C6C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A8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METHODOLOGY — RECOVERY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377440" y="73152"/>
            <a:ext cx="6400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Recovery Strategies — Live UI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658368"/>
            <a:ext cx="5120640" cy="3794760"/>
          </a:xfrm>
          <a:prstGeom prst="rect">
            <a:avLst/>
          </a:prstGeom>
          <a:solidFill>
            <a:srgbClr val="111418"/>
          </a:solidFill>
          <a:ln w="25400">
            <a:solidFill>
              <a:srgbClr val="F0A840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85800"/>
            <a:ext cx="5029200" cy="3703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577840" y="658368"/>
            <a:ext cx="3246120" cy="1097280"/>
          </a:xfrm>
          <a:prstGeom prst="rect">
            <a:avLst/>
          </a:prstGeom>
          <a:solidFill>
            <a:srgbClr val="181C23"/>
          </a:solidFill>
          <a:ln w="12700">
            <a:solidFill>
              <a:srgbClr val="F05050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77840" y="658368"/>
            <a:ext cx="3246120" cy="36576"/>
          </a:xfrm>
          <a:prstGeom prst="rect">
            <a:avLst/>
          </a:prstGeom>
          <a:solidFill>
            <a:srgbClr val="F05050"/>
          </a:solidFill>
          <a:ln w="12700">
            <a:solidFill>
              <a:srgbClr val="F050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87568" y="7498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0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● Process Termination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687568" y="1042416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the lowest-cost victim (fewest resources + lowest priority). Release all held resources. Re-run detection until no cycle.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687568" y="1536192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5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Cost: High — work lost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577840" y="1911096"/>
            <a:ext cx="3246120" cy="1097280"/>
          </a:xfrm>
          <a:prstGeom prst="rect">
            <a:avLst/>
          </a:prstGeom>
          <a:solidFill>
            <a:srgbClr val="181C23"/>
          </a:solidFill>
          <a:ln w="12700">
            <a:solidFill>
              <a:srgbClr val="F0A840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577840" y="1911096"/>
            <a:ext cx="3246120" cy="36576"/>
          </a:xfrm>
          <a:prstGeom prst="rect">
            <a:avLst/>
          </a:prstGeom>
          <a:solidFill>
            <a:srgbClr val="F0A840"/>
          </a:solidFill>
          <a:ln w="12700">
            <a:solidFill>
              <a:srgbClr val="F0A84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87568" y="200253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8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◐ Resource Preemption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687568" y="2295144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Forcibly take ONE resource from victim. Victim re-queued for that resource. Minimal disruption to other processes.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687568" y="278892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A8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Cost: Medium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577840" y="3163824"/>
            <a:ext cx="3246120" cy="1097280"/>
          </a:xfrm>
          <a:prstGeom prst="rect">
            <a:avLst/>
          </a:prstGeom>
          <a:solidFill>
            <a:srgbClr val="181C23"/>
          </a:solidFill>
          <a:ln w="12700">
            <a:solidFill>
              <a:srgbClr val="50D080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577840" y="3163824"/>
            <a:ext cx="3246120" cy="36576"/>
          </a:xfrm>
          <a:prstGeom prst="rect">
            <a:avLst/>
          </a:prstGeom>
          <a:solidFill>
            <a:srgbClr val="50D080"/>
          </a:solidFill>
          <a:ln w="12700">
            <a:solidFill>
              <a:srgbClr val="50D08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87568" y="325526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0D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◌ Process Rollback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687568" y="354787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victim back to last checkpoint. All resources acquired since checkpoint released. Victim restarts from safe state.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687568" y="4041648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0D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Cost: Low — if checkpointed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577840" y="4480560"/>
            <a:ext cx="3246120" cy="402336"/>
          </a:xfrm>
          <a:prstGeom prst="rect">
            <a:avLst/>
          </a:prstGeom>
          <a:solidFill>
            <a:srgbClr val="111418"/>
          </a:solidFill>
          <a:ln w="12700">
            <a:solidFill>
              <a:srgbClr val="2A2F4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577840" y="4480560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Victim score = held×2 + wait_time − priority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C10"/>
          </a:solidFill>
          <a:ln w="12700">
            <a:solidFill>
              <a:srgbClr val="0A0C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11418"/>
          </a:solidFill>
          <a:ln w="12700">
            <a:solidFill>
              <a:srgbClr val="1114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645920" cy="237744"/>
          </a:xfrm>
          <a:prstGeom prst="roundRect">
            <a:avLst>
              <a:gd name="adj" fmla="val 19231"/>
            </a:avLst>
          </a:prstGeom>
          <a:solidFill>
            <a:srgbClr val="7C6CF8">
              <a:alpha val="15000"/>
            </a:srgbClr>
          </a:solidFill>
          <a:ln w="12700">
            <a:solidFill>
              <a:srgbClr val="7C6C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A8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286000" y="73152"/>
            <a:ext cx="6583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 Design — DFS Cycle Detection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658368"/>
            <a:ext cx="4206240" cy="4251960"/>
          </a:xfrm>
          <a:prstGeom prst="rect">
            <a:avLst/>
          </a:prstGeom>
          <a:solidFill>
            <a:srgbClr val="111418"/>
          </a:solidFill>
          <a:ln w="12700">
            <a:solidFill>
              <a:srgbClr val="7C6CF8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658368"/>
            <a:ext cx="4206240" cy="36576"/>
          </a:xfrm>
          <a:prstGeom prst="rect">
            <a:avLst/>
          </a:prstGeom>
          <a:solidFill>
            <a:srgbClr val="7C6CF8"/>
          </a:solidFill>
          <a:ln w="12700">
            <a:solidFill>
              <a:srgbClr val="7C6C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7498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9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DFS Cycle Detection (RAG)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" y="107899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detect_deadlock(graph):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260043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visited  = {}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44109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rec_stack = {}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62214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1803197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node in graph: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198424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node not in visited: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2165299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dfs(node): return DEADLOCK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34635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" y="252740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dfs(node):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38912" y="2708453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visited.add(node)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38912" y="28895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rec_stack.add(node)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38912" y="3070555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neighbour in graph[node]: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38912" y="325160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neighbour not in visited: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38912" y="343265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dfs(neighbour): return True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8912" y="3613709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neighbour in rec_stack: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38912" y="379476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5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True  ← CYCLE FOUND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38912" y="3975811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rec_stack.remove(node)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38912" y="415686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False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658368"/>
            <a:ext cx="4023360" cy="868680"/>
          </a:xfrm>
          <a:prstGeom prst="rect">
            <a:avLst/>
          </a:prstGeom>
          <a:solidFill>
            <a:srgbClr val="181C23"/>
          </a:solidFill>
          <a:ln w="12700">
            <a:solidFill>
              <a:srgbClr val="7C6CF8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37760" y="7132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 Complexity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37760" y="93268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6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O(V + E)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937760" y="126187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nodes (processes+resources), E = edges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00600" y="1664208"/>
            <a:ext cx="4023360" cy="868680"/>
          </a:xfrm>
          <a:prstGeom prst="rect">
            <a:avLst/>
          </a:prstGeom>
          <a:solidFill>
            <a:srgbClr val="181C23"/>
          </a:solidFill>
          <a:ln w="12700">
            <a:solidFill>
              <a:srgbClr val="2DD4A0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37760" y="17190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 Complexity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37760" y="193852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D4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O(V)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4937760" y="226771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Visited set + recursion stack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00600" y="2670048"/>
            <a:ext cx="4023360" cy="868680"/>
          </a:xfrm>
          <a:prstGeom prst="rect">
            <a:avLst/>
          </a:prstGeom>
          <a:solidFill>
            <a:srgbClr val="181C23"/>
          </a:solidFill>
          <a:ln w="12700">
            <a:solidFill>
              <a:srgbClr val="F0A840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937760" y="27249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Structure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37760" y="294436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A8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Adj. List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4937760" y="327355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and resources as nodes, edges directed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00600" y="3794760"/>
            <a:ext cx="4023360" cy="1115568"/>
          </a:xfrm>
          <a:prstGeom prst="rect">
            <a:avLst/>
          </a:prstGeom>
          <a:solidFill>
            <a:srgbClr val="111418"/>
          </a:solidFill>
          <a:ln w="12700">
            <a:solidFill>
              <a:srgbClr val="2DD4A0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937760" y="38587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Wait-for Graph (WFG)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937760" y="4133088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simplified RAG with resource nodes removed.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P1→R1→P2 in RAG, then P1→P2 in WFG.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cycle in WFG = deadlock. Faster to compute at runtime.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C10"/>
          </a:solidFill>
          <a:ln w="12700">
            <a:solidFill>
              <a:srgbClr val="0A0C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11418"/>
          </a:solidFill>
          <a:ln w="12700">
            <a:solidFill>
              <a:srgbClr val="1114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645920" cy="237744"/>
          </a:xfrm>
          <a:prstGeom prst="roundRect">
            <a:avLst>
              <a:gd name="adj" fmla="val 19231"/>
            </a:avLst>
          </a:prstGeom>
          <a:solidFill>
            <a:srgbClr val="7C6CF8">
              <a:alpha val="15000"/>
            </a:srgbClr>
          </a:solidFill>
          <a:ln w="12700">
            <a:solidFill>
              <a:srgbClr val="7C6C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A8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286000" y="73152"/>
            <a:ext cx="6583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Scenarios &amp; Validation Results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658368"/>
          <a:ext cx="850392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Deadlock Expected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DFS Result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Banker's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3-process circular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P1,P2,P3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0A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D4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Detected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Terminate P1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Dining philosophers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P1–P5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0A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D4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Detected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Preempt R2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 state (textbook)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P0–P4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D4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D4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Safe seq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needed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Unsafe state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P0–P4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(but unsafe)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cycle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Unsafe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Deny request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deadlock (normal)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P1,P2,P3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D4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D4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Safe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needed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multi-resource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P1–P4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0A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D4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Detected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EA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Rollback P2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20040" y="3913632"/>
            <a:ext cx="2011680" cy="987552"/>
          </a:xfrm>
          <a:prstGeom prst="rect">
            <a:avLst/>
          </a:prstGeom>
          <a:solidFill>
            <a:srgbClr val="181C23"/>
          </a:solidFill>
          <a:ln w="12700">
            <a:solidFill>
              <a:srgbClr val="2DD4A0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20040" y="398678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DD4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6/6</a:t>
            </a:r>
            <a:endParaRPr lang="en-US" sz="2800" dirty="0"/>
          </a:p>
        </p:txBody>
      </p:sp>
      <p:sp>
        <p:nvSpPr>
          <p:cNvPr id="7" name="Text 7"/>
          <p:cNvSpPr/>
          <p:nvPr/>
        </p:nvSpPr>
        <p:spPr>
          <a:xfrm>
            <a:off x="320040" y="4480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Passed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532888" y="3913632"/>
            <a:ext cx="2011680" cy="987552"/>
          </a:xfrm>
          <a:prstGeom prst="rect">
            <a:avLst/>
          </a:prstGeom>
          <a:solidFill>
            <a:srgbClr val="181C23"/>
          </a:solidFill>
          <a:ln w="12700">
            <a:solidFill>
              <a:srgbClr val="50D080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532888" y="398678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0D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2532888" y="4480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Accuracy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745736" y="3913632"/>
            <a:ext cx="2011680" cy="987552"/>
          </a:xfrm>
          <a:prstGeom prst="rect">
            <a:avLst/>
          </a:prstGeom>
          <a:solidFill>
            <a:srgbClr val="181C23"/>
          </a:solidFill>
          <a:ln w="12700">
            <a:solidFill>
              <a:srgbClr val="7C6CF8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745736" y="398678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6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&lt;500ms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4745736" y="4480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958584" y="3913632"/>
            <a:ext cx="2011680" cy="987552"/>
          </a:xfrm>
          <a:prstGeom prst="rect">
            <a:avLst/>
          </a:prstGeom>
          <a:solidFill>
            <a:srgbClr val="181C23"/>
          </a:solidFill>
          <a:ln w="12700">
            <a:solidFill>
              <a:srgbClr val="F0A840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958584" y="398678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A8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6958584" y="4480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Crashes / Errors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C10"/>
          </a:solidFill>
          <a:ln w="12700">
            <a:solidFill>
              <a:srgbClr val="0A0C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6CF8"/>
          </a:solidFill>
          <a:ln w="12700">
            <a:solidFill>
              <a:srgbClr val="7C6C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7C6CF8">
              <a:alpha val="4000"/>
            </a:srgbClr>
          </a:solidFill>
          <a:ln w="12700">
            <a:solidFill>
              <a:srgbClr val="7C6CF8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-457200"/>
            <a:ext cx="4114800" cy="4114800"/>
          </a:xfrm>
          <a:prstGeom prst="ellipse">
            <a:avLst/>
          </a:prstGeom>
          <a:solidFill>
            <a:srgbClr val="2DD4A0">
              <a:alpha val="5000"/>
            </a:srgbClr>
          </a:solidFill>
          <a:ln w="12700">
            <a:solidFill>
              <a:srgbClr val="2DD4A0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01168"/>
            <a:ext cx="1645920" cy="237744"/>
          </a:xfrm>
          <a:prstGeom prst="roundRect">
            <a:avLst>
              <a:gd name="adj" fmla="val 19231"/>
            </a:avLst>
          </a:prstGeom>
          <a:solidFill>
            <a:srgbClr val="7C6CF8">
              <a:alpha val="15000"/>
            </a:srgbClr>
          </a:solidFill>
          <a:ln w="12700">
            <a:solidFill>
              <a:srgbClr val="7C6C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0116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A89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286000" y="109728"/>
            <a:ext cx="6583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&amp; Future Enhancements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20040" y="749808"/>
            <a:ext cx="4114800" cy="3108960"/>
          </a:xfrm>
          <a:prstGeom prst="rect">
            <a:avLst/>
          </a:prstGeom>
          <a:solidFill>
            <a:srgbClr val="111418"/>
          </a:solidFill>
          <a:ln w="12700">
            <a:solidFill>
              <a:srgbClr val="2DD4A0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749808"/>
            <a:ext cx="4114800" cy="36576"/>
          </a:xfrm>
          <a:prstGeom prst="rect">
            <a:avLst/>
          </a:prstGeom>
          <a:solidFill>
            <a:srgbClr val="2DD4A0"/>
          </a:solidFill>
          <a:ln w="12700">
            <a:solidFill>
              <a:srgbClr val="2DD4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84124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Achieved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118872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D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RAG visualizer with drag, click-to-connect, and color-coded states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152704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D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cycle detection with step-by-step traversal log showing each visited node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186537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D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Wait-for Graph reduction for multi-instance resources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20370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D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Banker's Safety Algorithm with live editable matrices and safe sequence output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54203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D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recovery strategies: termination, preemption, rollback — with before/after view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88036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D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test scenarios all validated against Silberschatz textbook expected outputs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749808"/>
            <a:ext cx="4114800" cy="3108960"/>
          </a:xfrm>
          <a:prstGeom prst="rect">
            <a:avLst/>
          </a:prstGeom>
          <a:solidFill>
            <a:srgbClr val="111418"/>
          </a:solidFill>
          <a:ln w="12700">
            <a:solidFill>
              <a:srgbClr val="7C6CF8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749808"/>
            <a:ext cx="4114800" cy="36576"/>
          </a:xfrm>
          <a:prstGeom prst="rect">
            <a:avLst/>
          </a:prstGeom>
          <a:solidFill>
            <a:srgbClr val="7C6CF8"/>
          </a:solidFill>
          <a:ln w="12700">
            <a:solidFill>
              <a:srgbClr val="7C6C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84124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9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Enhancements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118872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7C6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animation of Banker's safety iterations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152704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7C6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export/import for saving and sharing scenarios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186537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7C6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deadlock: Chandy-Misra-Haas algorithm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20370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7C6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arrival timeline — dynamic temporal simulation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254203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7C6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mode: predict deadlock before algorithm reveals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288036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7C6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keyboard navigation and screen-reader support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4005072"/>
            <a:ext cx="8503920" cy="868680"/>
          </a:xfrm>
          <a:prstGeom prst="rect">
            <a:avLst/>
          </a:prstGeom>
          <a:solidFill>
            <a:srgbClr val="181C23"/>
          </a:solidFill>
          <a:ln w="12700">
            <a:solidFill>
              <a:srgbClr val="2A2F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069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43434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Visualization-driven tools bridge the gap between abstract OS theory and intuitive understanding.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8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is both a working implementation and an educational tool ready for live demonstration.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A2F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References: Silberschatz et al. (2018), Tanenbaum &amp; Bos (2015), Coffman et al. (1971), Dijkstra (1968)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1014</Words>
  <Application>Microsoft Office PowerPoint</Application>
  <PresentationFormat>On-screen Show (16:9)</PresentationFormat>
  <Paragraphs>214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Deadlock Detection and Recovery System</dc:title>
  <dc:subject>PptxGenJS Presentation</dc:subject>
  <dc:creator>Syed Rameez Hassan, Armeen Mubeen, Muntasha Samoo, Mahnoor Motiwala</dc:creator>
  <cp:lastModifiedBy>Armeen Mubeen</cp:lastModifiedBy>
  <cp:revision>2</cp:revision>
  <dcterms:created xsi:type="dcterms:W3CDTF">2026-05-18T05:27:57Z</dcterms:created>
  <dcterms:modified xsi:type="dcterms:W3CDTF">2026-05-20T15:06:31Z</dcterms:modified>
</cp:coreProperties>
</file>